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/>
            </a:pPr>
            <a:r>
              <a:t>Sales Intelligence Agent</a:t>
            </a:r>
          </a:p>
          <a:p>
            <a:pPr algn="ctr">
              <a:defRPr sz="1800"/>
            </a:pPr>
            <a:r>
              <a:t>Visual System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188720"/>
            <a:ext cx="3657600" cy="914400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200" b="1"/>
            </a:pPr>
            <a:r>
              <a:t>User</a:t>
            </a:r>
            <a:br/>
            <a:r>
              <a:t>(Sales Rep)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286000"/>
            <a:ext cx="3657600" cy="914400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200" b="1"/>
            </a:pPr>
            <a:r>
              <a:t>Web Interface (UI)</a:t>
            </a:r>
            <a:br/>
            <a:r>
              <a:t>• Enter query</a:t>
            </a:r>
            <a:br/>
            <a:r>
              <a:t>• Select type:</a:t>
            </a:r>
            <a:br/>
            <a:r>
              <a:t>  Company / News / 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383280"/>
            <a:ext cx="3657600" cy="914400"/>
          </a:xfrm>
          <a:prstGeom prst="rect">
            <a:avLst/>
          </a:prstGeom>
          <a:solidFill>
            <a:srgbClr val="7030A0">
              <a:lumMod val="60000"/>
              <a:lumOff val="4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200" b="1"/>
            </a:pPr>
            <a:r>
              <a:t>Tool Selection Layer</a:t>
            </a:r>
            <a:br/>
            <a:br/>
            <a:r>
              <a:t>Company → Organizations</a:t>
            </a:r>
            <a:br/>
            <a:r>
              <a:t>News → Trends</a:t>
            </a:r>
            <a:br/>
            <a:r>
              <a:t>Lead → Individuals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480560"/>
            <a:ext cx="3657600" cy="914400"/>
          </a:xfrm>
          <a:prstGeom prst="rect">
            <a:avLst/>
          </a:prstGeom>
          <a:solidFill>
            <a:srgbClr val="00B0F0">
              <a:lumMod val="60000"/>
              <a:lumOff val="4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200" b="1"/>
            </a:pPr>
            <a:r>
              <a:t>Live Web Search</a:t>
            </a:r>
            <a:br/>
            <a:r>
              <a:t>(Serper API)</a:t>
            </a:r>
            <a:br/>
            <a:br/>
            <a:r>
              <a:t>• Google Search</a:t>
            </a:r>
            <a:br/>
            <a:r>
              <a:t>• Google News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577840"/>
            <a:ext cx="3657600" cy="914400"/>
          </a:xfrm>
          <a:prstGeom prst="rect">
            <a:avLst/>
          </a:prstGeom>
          <a:solidFill>
            <a:srgbClr val="7030A0">
              <a:lumMod val="60000"/>
              <a:lumOff val="4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200" b="1"/>
            </a:pPr>
            <a:r>
              <a:t>AI Summarization</a:t>
            </a:r>
            <a:br/>
            <a:r>
              <a:t>(Azure OpenAI)</a:t>
            </a:r>
            <a:br/>
            <a:br/>
            <a:r>
              <a:t>• Key insights</a:t>
            </a:r>
            <a:br/>
            <a:r>
              <a:t>• Bullet points</a:t>
            </a:r>
            <a:br/>
            <a:r>
              <a:t>• Clear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6675120"/>
            <a:ext cx="3657600" cy="914400"/>
          </a:xfrm>
          <a:prstGeom prst="rect">
            <a:avLst/>
          </a:prstGeom>
          <a:solidFill>
            <a:srgbClr val="00B050">
              <a:lumMod val="60000"/>
              <a:lumOff val="40000"/>
            </a:srgb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200" b="1"/>
            </a:pPr>
            <a:r>
              <a:t>Final Output</a:t>
            </a:r>
            <a:br/>
            <a:br/>
            <a:r>
              <a:t>✔ Summary points</a:t>
            </a:r>
            <a:br/>
            <a:r>
              <a:t>✔ Source links</a:t>
            </a:r>
            <a:br/>
            <a:r>
              <a:t>✔ Real-time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User asks a question → system searches the live web → AI summarizes → instant sales-ready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